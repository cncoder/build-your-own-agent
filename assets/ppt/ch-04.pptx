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E2E8F0"/>
                </a:solidFill>
                <a:latin typeface="Helvetica Neue"/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274320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8BDF8"/>
                </a:solidFill>
                <a:latin typeface="Helvetica Neue"/>
              </a:rPr>
              <a:t>Ch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E2E8F0"/>
                </a:solidFill>
                <a:latin typeface="Helvetica Neue"/>
              </a:rPr>
              <a:t>LLM 底层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38BDF8"/>
                </a:solidFill>
                <a:latin typeface="Helvetica Neue"/>
              </a:rPr>
              <a:t>agent 工程师需要知道的最少内容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4748B"/>
                </a:solidFill>
                <a:latin typeface="Helvetica Neue"/>
              </a:rPr>
              <a:t>《从零构建你的 AI Agent：Claude Code &amp; OpenClaw 深度实战》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4663440"/>
            <a:ext cx="576072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E2E8F0"/>
                </a:solidFill>
                <a:latin typeface="Helvetica Neue"/>
              </a:rPr>
              <a:t>本章你将学会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274320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600200"/>
            <a:ext cx="10698480" cy="4709160"/>
          </a:xfrm>
          <a:prstGeom prst="rect">
            <a:avLst/>
          </a:prstGeom>
          <a:solidFill>
            <a:srgbClr val="0F1318"/>
          </a:solidFill>
          <a:ln w="9525">
            <a:solidFill>
              <a:srgbClr val="1E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1248" y="2020824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64792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E2E8F0"/>
                </a:solidFill>
                <a:latin typeface="Helvetica Neue"/>
              </a:rPr>
              <a:t>8 个心智模型：从 token 到模型选型，建立正确直觉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2752344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96312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E2E8F0"/>
                </a:solidFill>
                <a:latin typeface="Helvetica Neue"/>
              </a:rPr>
              <a:t>O(n²) 的直觉：为什么长 context 贵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3483864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227832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E2E8F0"/>
                </a:solidFill>
                <a:latin typeface="Helvetica Neue"/>
              </a:rPr>
              <a:t>KV Cache / Prompt Caching：省 85% token 的工程技巧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4215384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959352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E2E8F0"/>
                </a:solidFill>
                <a:latin typeface="Helvetica Neue"/>
              </a:rPr>
              <a:t>Dense vs MoE：DeepSeek 为什么便宜那么多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" y="4946904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690872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E2E8F0"/>
                </a:solidFill>
                <a:latin typeface="Helvetica Neue"/>
              </a:rPr>
              <a:t>Reasoning 模型陷阱：不要把 R1 放进 ReAct loop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" y="5678423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5422391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E2E8F0"/>
                </a:solidFill>
                <a:latin typeface="Helvetica Neue"/>
              </a:rPr>
              <a:t>一张选型决策树：30 秒做出模型选型决定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E2E8F0"/>
                </a:solidFill>
                <a:latin typeface="Helvetica Neue"/>
              </a:rPr>
              <a:t>为什么 agent 工程师需要懂 LLM 底层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274320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600200"/>
            <a:ext cx="10698480" cy="3246120"/>
          </a:xfrm>
          <a:prstGeom prst="rect">
            <a:avLst/>
          </a:prstGeom>
          <a:solidFill>
            <a:srgbClr val="0F1318"/>
          </a:solidFill>
          <a:ln w="9525">
            <a:solidFill>
              <a:srgbClr val="1E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1248" y="2020824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64792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E2E8F0"/>
                </a:solidFill>
                <a:latin typeface="Helvetica Neue"/>
              </a:rPr>
              <a:t>选错模型：同等任务 Haiku 91% 准确率 vs Opus 93%，成本相差 37 倍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2752344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96312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E2E8F0"/>
                </a:solidFill>
                <a:latin typeface="Helvetica Neue"/>
              </a:rPr>
              <a:t>200 页 PDF + GPT-4o = 15 秒延迟，因为 attention 是 O(n²)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3483864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227832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E2E8F0"/>
                </a:solidFill>
                <a:latin typeface="Helvetica Neue"/>
              </a:rPr>
              <a:t>70B 模型 FP16 需要 140GB 显存，INT4 量化压到 40GB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4215384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959352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E2E8F0"/>
                </a:solidFill>
                <a:latin typeface="Helvetica Neue"/>
              </a:rPr>
              <a:t>目标：8 个心智模型 + 1 张决策树，30 秒内做出正确选型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A78BFA"/>
                </a:solidFill>
                <a:latin typeface="Helvetica Neue"/>
              </a:rPr>
              <a:t>心智模型 1：Transformer 一图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64240" cy="5212080"/>
          </a:xfrm>
          <a:prstGeom prst="rect">
            <a:avLst/>
          </a:prstGeom>
          <a:solidFill>
            <a:srgbClr val="060810"/>
          </a:solidFill>
          <a:ln w="952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64748B"/>
                </a:solidFill>
                <a:latin typeface="Courier New"/>
              </a:rPr>
              <a:t>|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17220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78BFA"/>
                </a:solidFill>
                <a:latin typeface="Helvetica Neue"/>
              </a:rPr>
              <a:t>▶ Mermaid 序列图（可用 mermaid-js 渲染为 PNG 替换此区域）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E2E8F0"/>
                </a:solidFill>
                <a:latin typeface="Helvetica Neue"/>
              </a:rPr>
              <a:t>心智模型 2：O(n²) 的工程直觉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274320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600200"/>
            <a:ext cx="10698480" cy="3977639"/>
          </a:xfrm>
          <a:prstGeom prst="rect">
            <a:avLst/>
          </a:prstGeom>
          <a:solidFill>
            <a:srgbClr val="0F1318"/>
          </a:solidFill>
          <a:ln w="9525">
            <a:solidFill>
              <a:srgbClr val="1E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1248" y="2020824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64792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E2E8F0"/>
                </a:solidFill>
                <a:latin typeface="Helvetica Neue"/>
              </a:rPr>
              <a:t>Attention = 序列每个 token 与其他所有 token 两两比较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2752344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96312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E2E8F0"/>
                </a:solidFill>
                <a:latin typeface="Helvetica Neue"/>
              </a:rPr>
              <a:t>1K tokens → 100 万对比较  /  128K tokens → 164 亿对比较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3483864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227832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E2E8F0"/>
                </a:solidFill>
                <a:latin typeface="Helvetica Neue"/>
              </a:rPr>
              <a:t>context 从 4K 增到 128K（32×），计算量增加约 1024×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4215384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959352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E2E8F0"/>
                </a:solidFill>
                <a:latin typeface="Helvetica Neue"/>
              </a:rPr>
              <a:t>实践推论：精确控制 context 长度，注意力稀释也是成本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" y="4946904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690872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E2E8F0"/>
                </a:solidFill>
                <a:latin typeface="Helvetica Neue"/>
              </a:rPr>
              <a:t>Flash Attention / Sliding Window 是缓解方案，但 O(n²) 是底层直觉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E2E8F0"/>
                </a:solidFill>
                <a:latin typeface="Helvetica Neue"/>
              </a:rPr>
              <a:t>心智模型 3：KV Cache — 为什么对话比重算省 ~85%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274320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600200"/>
            <a:ext cx="10698480" cy="3977639"/>
          </a:xfrm>
          <a:prstGeom prst="rect">
            <a:avLst/>
          </a:prstGeom>
          <a:solidFill>
            <a:srgbClr val="0F1318"/>
          </a:solidFill>
          <a:ln w="9525">
            <a:solidFill>
              <a:srgbClr val="1E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1248" y="2020824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64792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E2E8F0"/>
                </a:solidFill>
                <a:latin typeface="Helvetica Neue"/>
              </a:rPr>
              <a:t>KV Cache：历史轮次的 K/V 矩阵不变，缓存起来只算新 token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2752344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96312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E2E8F0"/>
                </a:solidFill>
                <a:latin typeface="Helvetica Neue"/>
              </a:rPr>
              <a:t>200 轮对话：无缓存需重算 ~10K tokens，有缓存每轮只算 50 tokens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3483864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227832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E2E8F0"/>
                </a:solidFill>
                <a:latin typeface="Helvetica Neue"/>
              </a:rPr>
              <a:t>Prompt Caching：Anthropic 命中后输入 token 价格降至 10%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4215384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959352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E2E8F0"/>
                </a:solidFill>
                <a:latin typeface="Helvetica Neue"/>
              </a:rPr>
              <a:t>工程技巧：system prompt + 工具 schema 放前面，用户输入放最后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" y="4946904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690872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E2E8F0"/>
                </a:solidFill>
                <a:latin typeface="Helvetica Neue"/>
              </a:rPr>
              <a:t>最大化缓存命中 → 多轮对话实际成本降低数倍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E2E8F0"/>
                </a:solidFill>
                <a:latin typeface="Helvetica Neue"/>
              </a:rPr>
              <a:t>心智模型 4 &amp; 5：Context Window 与量化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274320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600200"/>
            <a:ext cx="10698480" cy="3977639"/>
          </a:xfrm>
          <a:prstGeom prst="rect">
            <a:avLst/>
          </a:prstGeom>
          <a:solidFill>
            <a:srgbClr val="0F1318"/>
          </a:solidFill>
          <a:ln w="9525">
            <a:solidFill>
              <a:srgbClr val="1E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1248" y="2020824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64792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E2E8F0"/>
                </a:solidFill>
                <a:latin typeface="Helvetica Neue"/>
              </a:rPr>
              <a:t>Context 上限 = 显存 + 计算 + 成本三方妥协，不是随意设定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2752344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96312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E2E8F0"/>
                </a:solidFill>
                <a:latin typeface="Helvetica Neue"/>
              </a:rPr>
              <a:t>70B 模型 KV Cache：每 1K tokens 约 0.5GB 显存，128K = 64GB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3483864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227832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E2E8F0"/>
                </a:solidFill>
                <a:latin typeface="Helvetica Neue"/>
              </a:rPr>
              <a:t>超出 context window → API 静默截断最早内容，不报错！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4215384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959352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E2E8F0"/>
                </a:solidFill>
                <a:latin typeface="Helvetica Neue"/>
              </a:rPr>
              <a:t>INT4 量化：70B 从 140GB → 40GB，跑在 4 张 RTX 4090 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" y="4946904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690872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E2E8F0"/>
                </a:solidFill>
                <a:latin typeface="Helvetica Neue"/>
              </a:rPr>
              <a:t>量化精度损失约 5-10%，消费级硬件部署的入场券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E2E8F0"/>
                </a:solidFill>
                <a:latin typeface="Helvetica Neue"/>
              </a:rPr>
              <a:t>心智模型 6：Dense vs MoE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274320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600200"/>
            <a:ext cx="10698480" cy="4709160"/>
          </a:xfrm>
          <a:prstGeom prst="rect">
            <a:avLst/>
          </a:prstGeom>
          <a:solidFill>
            <a:srgbClr val="0F1318"/>
          </a:solidFill>
          <a:ln w="9525">
            <a:solidFill>
              <a:srgbClr val="1E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1248" y="2020824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64792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E2E8F0"/>
                </a:solidFill>
                <a:latin typeface="Helvetica Neue"/>
              </a:rPr>
              <a:t>Dense 模型：每次推理激活全部参数（如 GPT-4 ~1.8T 全激活）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2752344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96312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E2E8F0"/>
                </a:solidFill>
                <a:latin typeface="Helvetica Neue"/>
              </a:rPr>
              <a:t>MoE：64 个专家每次只路由 2 个，激活参数 = 总参数 / 32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3483864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227832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E2E8F0"/>
                </a:solidFill>
                <a:latin typeface="Helvetica Neue"/>
              </a:rPr>
              <a:t>DeepSeek-V3：总参数 671B，每 token 激活 37B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4215384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959352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E2E8F0"/>
                </a:solidFill>
                <a:latin typeface="Helvetica Neue"/>
              </a:rPr>
              <a:t>推理成本 ≈ 37B Dense 模型，但质量接近 GPT-4o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" y="4946904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690872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E2E8F0"/>
                </a:solidFill>
                <a:latin typeface="Helvetica Neue"/>
              </a:rPr>
              <a:t>价格是 GPT-4o 的 1/10 的原因正在这里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" y="5678423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5422391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E2E8F0"/>
                </a:solidFill>
                <a:latin typeface="Helvetica Neue"/>
              </a:rPr>
              <a:t>注意：671B 总参数仍需 ~1.3TB 显存加载，云 API 摊平此成本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E2E8F0"/>
                </a:solidFill>
                <a:latin typeface="Helvetica Neue"/>
              </a:rPr>
              <a:t>心智模型 7：模型选型速查表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274320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600200"/>
            <a:ext cx="10698480" cy="4709160"/>
          </a:xfrm>
          <a:prstGeom prst="rect">
            <a:avLst/>
          </a:prstGeom>
          <a:solidFill>
            <a:srgbClr val="0F1318"/>
          </a:solidFill>
          <a:ln w="9525">
            <a:solidFill>
              <a:srgbClr val="1E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1248" y="2020824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64792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E2E8F0"/>
                </a:solidFill>
                <a:latin typeface="Helvetica Neue"/>
              </a:rPr>
              <a:t>Claude Sonnet 系列 → 大多数 agent 任务首选（工具调用最稳定）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2752344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96312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E2E8F0"/>
                </a:solidFill>
                <a:latin typeface="Helvetica Neue"/>
              </a:rPr>
              <a:t>Claude Haiku → 高频简单调用，成本敏感场景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3483864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227832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E2E8F0"/>
                </a:solidFill>
                <a:latin typeface="Helvetica Neue"/>
              </a:rPr>
              <a:t>DeepSeek-V3 → 中文场景，成本极敏感（Claude 的 1/10）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4215384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959352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E2E8F0"/>
                </a:solidFill>
                <a:latin typeface="Helvetica Neue"/>
              </a:rPr>
              <a:t>Gemini 2.5 Pro → 超长文档（&gt;100K tokens）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" y="4946904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690872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E2E8F0"/>
                </a:solidFill>
                <a:latin typeface="Helvetica Neue"/>
              </a:rPr>
              <a:t>DeepSeek-R1 / o3 → 复杂数学推理，慎用于工具调用循环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" y="5678423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5422391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E2E8F0"/>
                </a:solidFill>
                <a:latin typeface="Helvetica Neue"/>
              </a:rPr>
              <a:t>Berkeley function calling leaderboard 是选型的客观参照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E2E8F0"/>
                </a:solidFill>
                <a:latin typeface="Helvetica Neue"/>
              </a:rPr>
              <a:t>心智模型 8：Reasoning 模型的陷阱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274320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600200"/>
            <a:ext cx="10698480" cy="3977639"/>
          </a:xfrm>
          <a:prstGeom prst="rect">
            <a:avLst/>
          </a:prstGeom>
          <a:solidFill>
            <a:srgbClr val="0F1318"/>
          </a:solidFill>
          <a:ln w="9525">
            <a:solidFill>
              <a:srgbClr val="1E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1248" y="2020824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64792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E2E8F0"/>
                </a:solidFill>
                <a:latin typeface="Helvetica Neue"/>
              </a:rPr>
              <a:t>Reasoning 模型先生成 2K-8K thinking tokens，再输出答案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2752344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96312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E2E8F0"/>
                </a:solidFill>
                <a:latin typeface="Helvetica Neue"/>
              </a:rPr>
              <a:t>把 R1 放进 ReAct loop：它在 thinking 里'想到答案'，不再调用工具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3483864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227832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E2E8F0"/>
                </a:solidFill>
                <a:latin typeface="Helvetica Neue"/>
              </a:rPr>
              <a:t>工具调用格式遵从率不稳定——JSON 解析失败率显著高于普通模型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4215384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959352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E2E8F0"/>
                </a:solidFill>
                <a:latin typeface="Helvetica Neue"/>
              </a:rPr>
              <a:t>适用：复杂推理单次任务、允许高延迟（30-60 秒）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" y="4946904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690872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E2E8F0"/>
                </a:solidFill>
                <a:latin typeface="Helvetica Neue"/>
              </a:rPr>
              <a:t>不适用：多步工具调用 loop、延迟敏感、格式遵从重要的场景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A78BFA"/>
                </a:solidFill>
                <a:latin typeface="Helvetica Neue"/>
              </a:rPr>
              <a:t>选型决策树（30 秒版）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64240" cy="5212080"/>
          </a:xfrm>
          <a:prstGeom prst="rect">
            <a:avLst/>
          </a:prstGeom>
          <a:solidFill>
            <a:srgbClr val="060810"/>
          </a:solidFill>
          <a:ln w="952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64748B"/>
                </a:solidFill>
                <a:latin typeface="Courier New"/>
              </a:rPr>
              <a:t>|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17220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78BFA"/>
                </a:solidFill>
                <a:latin typeface="Helvetica Neue"/>
              </a:rPr>
              <a:t>▶ Mermaid 序列图（可用 mermaid-js 渲染为 PNG 替换此区域）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E2E8F0"/>
                </a:solidFill>
                <a:latin typeface="Helvetica Neue"/>
              </a:rPr>
              <a:t>本章小结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274320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600200"/>
            <a:ext cx="10698480" cy="3977639"/>
          </a:xfrm>
          <a:prstGeom prst="rect">
            <a:avLst/>
          </a:prstGeom>
          <a:solidFill>
            <a:srgbClr val="0F1318"/>
          </a:solidFill>
          <a:ln w="9525">
            <a:solidFill>
              <a:srgbClr val="1E2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1248" y="2020824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64792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E2E8F0"/>
                </a:solidFill>
                <a:latin typeface="Helvetica Neue"/>
              </a:rPr>
              <a:t>token 是串行生成的，模型大小 ≠ 输出速度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2752344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96312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E2E8F0"/>
                </a:solidFill>
                <a:latin typeface="Helvetica Neue"/>
              </a:rPr>
              <a:t>O(n²) 直觉：context 越长越贵，精确管理是专业习惯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3483864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227832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E2E8F0"/>
                </a:solidFill>
                <a:latin typeface="Helvetica Neue"/>
              </a:rPr>
              <a:t>Prompt Caching：system prompt 放前面，省到 90% 输入 cost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4215384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959352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E2E8F0"/>
                </a:solidFill>
                <a:latin typeface="Helvetica Neue"/>
              </a:rPr>
              <a:t>MoE 看激活参数，不看总参数；Reasoning 模型是专用工具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" y="4946904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690872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E2E8F0"/>
                </a:solidFill>
                <a:latin typeface="Helvetica Neue"/>
              </a:rPr>
              <a:t>下一章：给 Lena 装上 ToolRegistry，加工具不改核心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8BDF8"/>
                </a:solidFill>
                <a:latin typeface="Helvetica Neue"/>
              </a:rPr>
              <a:t>本章无代码产物 — 直觉比代码先到位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E2E8F0"/>
                </a:solidFill>
                <a:latin typeface="Helvetica Neue"/>
              </a:rPr>
              <a:t>Ch04 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38BDF8"/>
                </a:solidFill>
                <a:latin typeface="Helvetica Neue"/>
              </a:rPr>
              <a:t>8 个心智模型 → 30 秒选型决策树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4663440"/>
            <a:ext cx="576072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